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9" r:id="rId3"/>
    <p:sldId id="327" r:id="rId4"/>
    <p:sldId id="333" r:id="rId5"/>
    <p:sldId id="351" r:id="rId6"/>
    <p:sldId id="328" r:id="rId7"/>
    <p:sldId id="352" r:id="rId8"/>
    <p:sldId id="329" r:id="rId9"/>
    <p:sldId id="335" r:id="rId10"/>
    <p:sldId id="334" r:id="rId11"/>
    <p:sldId id="330" r:id="rId12"/>
    <p:sldId id="346" r:id="rId13"/>
    <p:sldId id="347" r:id="rId14"/>
    <p:sldId id="354" r:id="rId15"/>
    <p:sldId id="355" r:id="rId16"/>
    <p:sldId id="353" r:id="rId17"/>
    <p:sldId id="350" r:id="rId18"/>
    <p:sldId id="349" r:id="rId19"/>
    <p:sldId id="326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>
      <p:cViewPr varScale="1">
        <p:scale>
          <a:sx n="59" d="100"/>
          <a:sy n="59" d="100"/>
        </p:scale>
        <p:origin x="884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C53CE-3AEB-F71C-BC67-E2B3D21E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1262-DC98-3746-73BF-D565A369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51F3A-F312-C337-6F9F-50CB5A8FA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B3A5-DC15-697B-BA73-0E013D2D6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32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4894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0B2B-00B2-907B-0752-D197DFF9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3F442-1287-2D18-1550-A4F4CEA08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3018-4471-0029-D99B-8A36A35EE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8FC00-64A0-BB59-B8EC-7E3846840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02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&amp;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 err="1">
                <a:solidFill>
                  <a:srgbClr val="002060"/>
                </a:solidFill>
                <a:cs typeface="Calibri"/>
              </a:rPr>
              <a:t>Mr.Tummala</a:t>
            </a:r>
            <a:r>
              <a:rPr lang="en-US" sz="3000" b="1" dirty="0">
                <a:solidFill>
                  <a:srgbClr val="002060"/>
                </a:solidFill>
                <a:cs typeface="Calibri"/>
              </a:rPr>
              <a:t> Vinay Goud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23MPCS-F6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 fontScale="70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AquaVision-X:A Multimodal CNN-XAI Framework for Marine Plastic Waste Detection Using Drone-Based Aerial Imagery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67408"/>
              </p:ext>
            </p:extLst>
          </p:nvPr>
        </p:nvGraphicFramePr>
        <p:xfrm>
          <a:off x="1219200" y="2971800"/>
          <a:ext cx="6858000" cy="1889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64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No`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23881A05BA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PALEGAR JAGRUTHI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23881A05Y7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BUSSI SAI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MOHAMMED SOHAIL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Review-2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9144000" cy="60960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Main idea of the Project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Process Model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Design Phase</a:t>
            </a:r>
            <a:endParaRPr lang="en-US" sz="1800" dirty="0">
              <a:ea typeface="+mn-lt"/>
              <a:cs typeface="+mn-lt"/>
            </a:endParaRP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Architectural Diagram [Modified]</a:t>
            </a:r>
            <a:endParaRPr lang="en-US" sz="1800" dirty="0">
              <a:ea typeface="+mn-lt"/>
              <a:cs typeface="+mn-lt"/>
            </a:endParaRP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[UML Diagrams or Data Flow Diagrams] and ER-Diagrams ; It should be detailed diagrams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Research paper (Acceptance proof)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645274"/>
            <a:ext cx="3505200" cy="365126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Main idea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2400" dirty="0"/>
              <a:t>AquaVision-X is a deep learning framework designed to detect marine plastic waste from aerial drone images.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/>
              <a:t>It uses a Convolutional Neural Network (CNN) to automatically identify plastic debris in ocean and coastal areas. The system combines visual images and environmental metadata to improve detection accuracy under different conditions.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/>
              <a:t>Explainable AI (XAI) techniques such as Grad-CAM are used to show the regions of the image that influence the model’s predictions.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/>
              <a:t>The framework provides a user-friendly interface for image upload, real-time detection, and visualization of results.</a:t>
            </a:r>
          </a:p>
          <a:p>
            <a:pPr algn="just" fontAlgn="auto">
              <a:spcAft>
                <a:spcPts val="0"/>
              </a:spcAft>
              <a:defRPr/>
            </a:pPr>
            <a:r>
              <a:rPr lang="en-US" sz="2400" dirty="0"/>
              <a:t>The goal is to support marine conservation and environmental monitoring through an accurate and interpretable detection system</a:t>
            </a:r>
            <a:r>
              <a:rPr lang="en-US" sz="2000" dirty="0"/>
              <a:t>.</a:t>
            </a:r>
          </a:p>
          <a:p>
            <a:pPr fontAlgn="auto">
              <a:spcAft>
                <a:spcPts val="0"/>
              </a:spcAft>
              <a:defRPr/>
            </a:pPr>
            <a:endParaRPr lang="en-US" sz="20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E6D5323-0B84-6F12-46A8-947CA64D5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143768"/>
              </p:ext>
            </p:extLst>
          </p:nvPr>
        </p:nvGraphicFramePr>
        <p:xfrm>
          <a:off x="457200" y="1600200"/>
          <a:ext cx="8229600" cy="146304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9917691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6871848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88775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522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6081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10576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MINI PROJECT REVIEW-4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8EC4AA-FD9D-3909-9BB4-AB31E9255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013166"/>
              </p:ext>
            </p:extLst>
          </p:nvPr>
        </p:nvGraphicFramePr>
        <p:xfrm>
          <a:off x="457200" y="1397000"/>
          <a:ext cx="8382000" cy="4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568209452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933378334"/>
                    </a:ext>
                  </a:extLst>
                </a:gridCol>
              </a:tblGrid>
              <a:tr h="991870"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</a:p>
                    <a:p>
                      <a:r>
                        <a:rPr lang="en-US" sz="2800" dirty="0"/>
                        <a:t>          Existing System 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r>
                        <a:rPr lang="en-US" sz="2800" dirty="0"/>
                        <a:t>         Proposed System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7253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Manual monitoring of marine plastic waste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Automated detection using </a:t>
                      </a:r>
                      <a:r>
                        <a:rPr lang="en-US" sz="2000" b="1" dirty="0"/>
                        <a:t>CNN-based deep learning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77325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Limited analysis using only visual observation.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Uses </a:t>
                      </a:r>
                      <a:r>
                        <a:rPr lang="pt-BR" sz="2000" b="1" dirty="0"/>
                        <a:t>multimodal data (images + environmental metadata)</a:t>
                      </a:r>
                      <a:r>
                        <a:rPr lang="pt-BR" sz="2000" dirty="0"/>
                        <a:t>.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909178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2000" dirty="0"/>
                        <a:t>No transparency in detection results.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2000" dirty="0"/>
                        <a:t>Uses </a:t>
                      </a:r>
                      <a:r>
                        <a:rPr lang="en-US" sz="2000" b="1" dirty="0"/>
                        <a:t>Explainable AI (XAI)</a:t>
                      </a:r>
                      <a:r>
                        <a:rPr lang="en-US" sz="2000" dirty="0"/>
                        <a:t> to show detection regions.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071942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Difficult to scale for large ocean areas.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sz="2000" b="1" dirty="0"/>
                        <a:t>Scalable system</a:t>
                      </a:r>
                      <a:r>
                        <a:rPr lang="en-IN" sz="2000" dirty="0"/>
                        <a:t> for large-scale marine monitoring.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19014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C6F3-2C36-8BFC-2F07-7C49AF7A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9EDE8-4BAB-4A2F-150D-7CB24B9D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D6AFC-2EB0-0056-772E-E65B61BA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236B7F-37BF-C353-3EBA-FC96C8B3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3198B7-9C25-960E-583E-9C421DE1B7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46304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9917691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6871848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88775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522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6081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10576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2929572-EBBA-FAD1-37E8-530137DA65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AE3B3F-B442-5BFE-D6E1-94522F6DF630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B785A846-D456-277B-88AB-A566BD874A09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DEPARTMENT OF CSE MINI PROJECT REVIEW-4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C626D3-0F83-4185-D55B-349A4391C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774459"/>
              </p:ext>
            </p:extLst>
          </p:nvPr>
        </p:nvGraphicFramePr>
        <p:xfrm>
          <a:off x="457200" y="1397000"/>
          <a:ext cx="8382000" cy="495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156820945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1933378334"/>
                    </a:ext>
                  </a:extLst>
                </a:gridCol>
              </a:tblGrid>
              <a:tr h="991870"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</a:p>
                    <a:p>
                      <a:r>
                        <a:rPr lang="en-US" sz="2800" dirty="0"/>
                        <a:t>          Existing System 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r>
                        <a:rPr lang="en-US" sz="2800" dirty="0"/>
                        <a:t>         Proposed System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37253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Less accuracy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High accuracy using deep learning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077325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Time-consuming process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Fast and real-time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909178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sz="2000" dirty="0"/>
                        <a:t>Requires high human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IN" sz="2000" dirty="0"/>
                        <a:t>Minimal human intervention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071942"/>
                  </a:ext>
                </a:extLst>
              </a:tr>
              <a:tr h="991870"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No user-friendly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Provides easy-to-use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19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983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 Develop a CNN-based deep learning model to detect marine plastic waste from aerial drone images.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Build a multimodal framework that combines visual image data and environmental/contextual metadata.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Improve detection accuracy and reliability under different ocean and lighting conditions.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Integrate Explainable AI (XAI) techniques such as Grad-CAM to make the model’s predictions transparent and interpretable.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400" dirty="0"/>
              <a:t>Create a user-friendly interface for image upload, automatic detection, and visualization of results</a:t>
            </a:r>
            <a:r>
              <a:rPr lang="en-US" sz="2800" dirty="0"/>
              <a:t>.</a:t>
            </a:r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A859-2326-E17A-0519-7FFB5987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67A3-E52E-76A7-DECA-C8EB3E06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BE7C-8713-1329-8E37-02614DEA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Optimize the model for </a:t>
            </a:r>
            <a:r>
              <a:rPr lang="en-US" sz="2400" b="1" dirty="0"/>
              <a:t>low power devices</a:t>
            </a:r>
            <a:r>
              <a:rPr lang="en-US" sz="2400" dirty="0"/>
              <a:t> (edge deployment on drones)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Reduce </a:t>
            </a:r>
            <a:r>
              <a:rPr lang="en-US" sz="2400" b="1" dirty="0"/>
              <a:t>false positives and false negatives</a:t>
            </a:r>
            <a:r>
              <a:rPr lang="en-US" sz="2400" dirty="0"/>
              <a:t> in detection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Implement </a:t>
            </a:r>
            <a:r>
              <a:rPr lang="en-US" sz="2400" b="1" dirty="0"/>
              <a:t>data preprocessing and augmentation</a:t>
            </a:r>
            <a:r>
              <a:rPr lang="en-US" sz="2400" dirty="0"/>
              <a:t> to improve model performance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Enable </a:t>
            </a:r>
            <a:r>
              <a:rPr lang="en-US" sz="2400" b="1" dirty="0"/>
              <a:t>automatic classification of plastic types (bottles, bags, etc.)</a:t>
            </a:r>
            <a:r>
              <a:rPr lang="en-US" sz="2400" dirty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Develop a system for </a:t>
            </a:r>
            <a:r>
              <a:rPr lang="en-US" sz="2400" b="1" dirty="0"/>
              <a:t>continuous learning with new data (model updates)</a:t>
            </a:r>
            <a:r>
              <a:rPr lang="en-US" sz="2400" dirty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Ensure </a:t>
            </a:r>
            <a:r>
              <a:rPr lang="en-US" sz="2400" b="1" dirty="0"/>
              <a:t>fast processing time for near real-time predictions</a:t>
            </a:r>
            <a:r>
              <a:rPr lang="en-US" sz="2400" dirty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Provide </a:t>
            </a:r>
            <a:r>
              <a:rPr lang="en-US" sz="2400" b="1" dirty="0"/>
              <a:t>visual analytics/dashboard for monitoring results</a:t>
            </a:r>
            <a:r>
              <a:rPr lang="en-US" sz="2400" dirty="0"/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Improve </a:t>
            </a:r>
            <a:r>
              <a:rPr lang="en-US" sz="2400" b="1" dirty="0"/>
              <a:t>generalization of model across different ocean regions</a:t>
            </a:r>
            <a:r>
              <a:rPr lang="en-US" sz="2400" dirty="0"/>
              <a:t> </a:t>
            </a:r>
          </a:p>
          <a:p>
            <a:pPr algn="just" fontAlgn="auto">
              <a:spcAft>
                <a:spcPts val="0"/>
              </a:spcAft>
              <a:defRPr/>
            </a:pPr>
            <a:endParaRPr lang="en-US" sz="2500" dirty="0"/>
          </a:p>
          <a:p>
            <a:pPr fontAlgn="auto">
              <a:spcAft>
                <a:spcPts val="0"/>
              </a:spcAft>
              <a:defRPr/>
            </a:pP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B2144-21B3-ACCB-2158-697EA884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D0515-8809-E88C-FF7B-318EC3EB78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A20F14-DE17-FBCF-B350-01EB35BD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  <p:extLst>
      <p:ext uri="{BB962C8B-B14F-4D97-AF65-F5344CB8AC3E}">
        <p14:creationId xmlns:p14="http://schemas.microsoft.com/office/powerpoint/2010/main" val="113383498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600" dirty="0"/>
          </a:p>
          <a:p>
            <a:r>
              <a:rPr lang="en-US" sz="2400" dirty="0"/>
              <a:t>Successfully developed a CNN-based model to detect marine plastic waste from aerial drone images.</a:t>
            </a:r>
          </a:p>
          <a:p>
            <a:r>
              <a:rPr lang="en-US" sz="2400" dirty="0"/>
              <a:t>Achieved accurate identification of plastic debris in different marine environments.</a:t>
            </a:r>
          </a:p>
          <a:p>
            <a:r>
              <a:rPr lang="en-US" sz="2400" dirty="0"/>
              <a:t>Explainable AI (XAI) techniques such as Grad-CAM generate heatmaps showing the regions influencing the model’s prediction.</a:t>
            </a:r>
          </a:p>
          <a:p>
            <a:r>
              <a:rPr lang="en-US" sz="2400" dirty="0"/>
              <a:t>Implemented a user-friendly interface for uploading images and performing real-time detection.</a:t>
            </a:r>
          </a:p>
          <a:p>
            <a:r>
              <a:rPr lang="en-US" sz="2400" dirty="0"/>
              <a:t>The system displays bounding boxes and visual explanations, making the detection process clear and interpretable.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6" y="1020762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/>
              <a:t>Deep Learning Framework</a:t>
            </a:r>
          </a:p>
          <a:p>
            <a:pPr algn="just">
              <a:buNone/>
            </a:pPr>
            <a:r>
              <a:rPr lang="en-US" sz="2400" dirty="0"/>
              <a:t>TensorFlowKerasPyTorch (optional)</a:t>
            </a:r>
          </a:p>
          <a:p>
            <a:pPr algn="just">
              <a:buNone/>
            </a:pPr>
            <a:r>
              <a:rPr lang="en-US" sz="2400" dirty="0"/>
              <a:t>Libraries and Packages</a:t>
            </a:r>
          </a:p>
          <a:p>
            <a:pPr algn="just">
              <a:buNone/>
            </a:pPr>
            <a:r>
              <a:rPr lang="en-US" sz="2400" dirty="0"/>
              <a:t>NumPy – Numerical computationsPandas – Data processingOpenCV – Image processingMatplotlib / Seaborn – Data </a:t>
            </a:r>
            <a:r>
              <a:rPr lang="en-US" sz="2400" dirty="0" err="1"/>
              <a:t>visualizationScikit</a:t>
            </a:r>
            <a:r>
              <a:rPr lang="en-US" sz="2400" dirty="0"/>
              <a:t>-learn – Machine learning utilities</a:t>
            </a:r>
          </a:p>
          <a:p>
            <a:pPr algn="just">
              <a:buNone/>
            </a:pPr>
            <a:r>
              <a:rPr lang="en-US" sz="2400" dirty="0"/>
              <a:t>Explainable AI (XAI) Tools</a:t>
            </a:r>
          </a:p>
          <a:p>
            <a:pPr algn="just">
              <a:buNone/>
            </a:pPr>
            <a:r>
              <a:rPr lang="en-US" sz="2400" dirty="0"/>
              <a:t>Grad-CAMLIME (Local Interpretable Model-agnostic Explanations)</a:t>
            </a:r>
          </a:p>
          <a:p>
            <a:pPr algn="just">
              <a:buNone/>
            </a:pPr>
            <a:r>
              <a:rPr lang="en-US" sz="2400" dirty="0"/>
              <a:t>Dataset Management</a:t>
            </a:r>
          </a:p>
          <a:p>
            <a:pPr algn="just">
              <a:buNone/>
            </a:pPr>
            <a:r>
              <a:rPr lang="en-US" sz="2400" dirty="0"/>
              <a:t>Kaggle / Custom Marine Debris Dataset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901D-E22F-4DE8-9432-DE53CF2D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Process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5670-7EBF-4D35-A203-BB27491B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Collect aerial drone images of marine environments containing plastic waste.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Data PreprocessingResize images, remove noise, and normalize data for better model performance.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Feature Extraction using CNN The Convolutional Neural Network (CNN) extracts important features from the images.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Multimodal Data Integration Combine image data with environmental metadata such as water conditions, lighting, and location.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Plastic Waste DetectionThe trained model detects marine plastic debris and identifies their locations.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Explainable AI (XAI) Analysis Use Grad-CAM to generate heatmaps showing which regions influenced the prediction.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dirty="0"/>
              <a:t>Result Visualization bounding boxes and heatmaps through a user-friendly </a:t>
            </a:r>
            <a:r>
              <a:rPr lang="en-US" sz="2000" dirty="0"/>
              <a:t>.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dirty="0"/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3DC3E-817D-4934-A8A3-9B35012B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F14D1DE-E57B-4FC7-9D83-AB1C4CB583B1}" type="slidenum">
              <a:rPr lang="en-US" altLang="en-US">
                <a:solidFill>
                  <a:srgbClr val="898989"/>
                </a:solidFill>
              </a:rPr>
              <a:pPr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59326-8E95-426A-1865-46915AD87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95" y="-4774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21422-6041-1B6A-1A00-FFF62940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0787"/>
            <a:ext cx="8229600" cy="426561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47575" y="914400"/>
            <a:ext cx="8229600" cy="5334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Proposed Method</a:t>
            </a:r>
          </a:p>
          <a:p>
            <a:r>
              <a:rPr lang="en-US" sz="1800" dirty="0"/>
              <a:t>Collect </a:t>
            </a:r>
            <a:r>
              <a:rPr lang="en-US" sz="1800" b="1" dirty="0"/>
              <a:t>aerial drone images</a:t>
            </a:r>
            <a:r>
              <a:rPr lang="en-US" sz="1800" dirty="0"/>
              <a:t> containing marine environments.</a:t>
            </a:r>
          </a:p>
          <a:p>
            <a:r>
              <a:rPr lang="en-US" sz="1800" dirty="0"/>
              <a:t>Perform </a:t>
            </a:r>
            <a:r>
              <a:rPr lang="en-US" sz="1800" b="1" dirty="0"/>
              <a:t>image preprocessing</a:t>
            </a:r>
            <a:r>
              <a:rPr lang="en-US" sz="1800" dirty="0"/>
              <a:t> such as resizing, normalization, and noise removal.</a:t>
            </a:r>
          </a:p>
          <a:p>
            <a:r>
              <a:rPr lang="en-US" sz="1800" dirty="0"/>
              <a:t>Use a </a:t>
            </a:r>
            <a:r>
              <a:rPr lang="en-US" sz="1800" b="1" dirty="0"/>
              <a:t>Convolutional Neural Network (CNN)</a:t>
            </a:r>
            <a:r>
              <a:rPr lang="en-US" sz="1800" dirty="0"/>
              <a:t> to detect marine plastic waste from the images.</a:t>
            </a:r>
          </a:p>
          <a:p>
            <a:r>
              <a:rPr lang="en-US" sz="1800" dirty="0"/>
              <a:t>Combine </a:t>
            </a:r>
            <a:r>
              <a:rPr lang="en-US" sz="1800" b="1" dirty="0"/>
              <a:t>visual data with environmental metadata</a:t>
            </a:r>
            <a:r>
              <a:rPr lang="en-US" sz="1800" dirty="0"/>
              <a:t> (water condition, lighting, location) to improve accuracy.</a:t>
            </a:r>
          </a:p>
          <a:p>
            <a:r>
              <a:rPr lang="en-US" sz="1800" dirty="0"/>
              <a:t>Apply </a:t>
            </a:r>
            <a:r>
              <a:rPr lang="en-US" sz="1800" b="1" dirty="0"/>
              <a:t>Explainable AI (XAI)</a:t>
            </a:r>
            <a:r>
              <a:rPr lang="en-US" sz="1800" dirty="0"/>
              <a:t> techniques to interpret the model’s predictions.</a:t>
            </a:r>
          </a:p>
          <a:p>
            <a:r>
              <a:rPr lang="en-US" sz="1800" dirty="0"/>
              <a:t>Display the </a:t>
            </a:r>
            <a:r>
              <a:rPr lang="en-US" sz="1800" b="1" dirty="0"/>
              <a:t>detected plastic regions using bounding boxes and heatmaps</a:t>
            </a:r>
            <a:r>
              <a:rPr lang="en-US" sz="1800" dirty="0"/>
              <a:t> through the user interface.</a:t>
            </a:r>
          </a:p>
          <a:p>
            <a:pPr marL="0" indent="0">
              <a:buNone/>
            </a:pPr>
            <a:r>
              <a:rPr lang="en-IN" sz="1800" b="1" dirty="0"/>
              <a:t>Algorithms Used</a:t>
            </a:r>
          </a:p>
          <a:p>
            <a:r>
              <a:rPr lang="en-IN" sz="1800" b="1" dirty="0"/>
              <a:t>Convolutional Neural Network (CNN)</a:t>
            </a:r>
            <a:r>
              <a:rPr lang="en-IN" sz="1800" dirty="0"/>
              <a:t> – for image classification and detection.</a:t>
            </a:r>
          </a:p>
          <a:p>
            <a:r>
              <a:rPr lang="en-IN" sz="1800" b="1" dirty="0"/>
              <a:t>Grad-CAM (Gradient-weighted Class Activation Mapping)</a:t>
            </a:r>
            <a:r>
              <a:rPr lang="en-IN" sz="1800" dirty="0"/>
              <a:t> – for Explainable AI visualization.</a:t>
            </a:r>
          </a:p>
          <a:p>
            <a:r>
              <a:rPr lang="en-IN" sz="1800" b="1" dirty="0"/>
              <a:t>Image Preprocessing Algorithms</a:t>
            </a:r>
            <a:r>
              <a:rPr lang="en-IN" sz="1800" dirty="0"/>
              <a:t> – resizing, normalization, and feature extraction.</a:t>
            </a:r>
          </a:p>
          <a:p>
            <a:r>
              <a:rPr lang="en-IN" sz="1800" b="1" dirty="0"/>
              <a:t>Multimodal Data Integration</a:t>
            </a:r>
            <a:r>
              <a:rPr lang="en-IN" sz="1800" dirty="0"/>
              <a:t> – combining image data with environmental metadata.</a:t>
            </a:r>
          </a:p>
          <a:p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A60B19-58A3-9040-1E09-C7D102B8C676}"/>
              </a:ext>
            </a:extLst>
          </p:cNvPr>
          <p:cNvSpPr/>
          <p:nvPr/>
        </p:nvSpPr>
        <p:spPr>
          <a:xfrm>
            <a:off x="228600" y="990600"/>
            <a:ext cx="45719" cy="76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A842A-D1DD-4604-4380-0776477D289B}"/>
              </a:ext>
            </a:extLst>
          </p:cNvPr>
          <p:cNvSpPr/>
          <p:nvPr/>
        </p:nvSpPr>
        <p:spPr>
          <a:xfrm>
            <a:off x="381000" y="914400"/>
            <a:ext cx="8458200" cy="54419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14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AquaVision-X model successfully detects marine plastic waste from aerial drone images.</a:t>
            </a:r>
          </a:p>
          <a:p>
            <a:r>
              <a:rPr lang="en-US" sz="2400" dirty="0"/>
              <a:t>The CNN model achieved high detection accuracy in identifying plastic debris in different marine environments.</a:t>
            </a:r>
          </a:p>
          <a:p>
            <a:r>
              <a:rPr lang="en-US" sz="2400" dirty="0"/>
              <a:t>Explainable AI (XAI) techniques such as Grad-CAM generated heatmaps highlighting important regions influencing the model’s prediction.</a:t>
            </a:r>
          </a:p>
          <a:p>
            <a:r>
              <a:rPr lang="en-US" sz="2400" dirty="0"/>
              <a:t>The system displayed bounding boxes around detected plastic waste in the images.</a:t>
            </a:r>
          </a:p>
          <a:p>
            <a:r>
              <a:rPr lang="en-US" sz="2400" dirty="0"/>
              <a:t>The user interface allowed easy image upload and real-time visualization of detection results.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86D90-A933-BA9B-7734-9D23E724137F}"/>
              </a:ext>
            </a:extLst>
          </p:cNvPr>
          <p:cNvSpPr/>
          <p:nvPr/>
        </p:nvSpPr>
        <p:spPr>
          <a:xfrm>
            <a:off x="304800" y="1066800"/>
            <a:ext cx="8610600" cy="528955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66220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C424-30FD-F951-872D-C652F94D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D604-1021-475B-9F8F-87A932A5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2097D-6C38-184E-69B6-F033613E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C68826-3ABF-9807-2257-A8B456776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1171509"/>
            <a:ext cx="5562599" cy="3938116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BA25FD-8595-8731-589E-66120CFA3D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7F5486AC-E57C-A5A9-217A-B122A15C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B31A46-5E3A-E708-36AC-88293E3F1F8C}"/>
              </a:ext>
            </a:extLst>
          </p:cNvPr>
          <p:cNvSpPr txBox="1"/>
          <p:nvPr/>
        </p:nvSpPr>
        <p:spPr>
          <a:xfrm>
            <a:off x="685800" y="5225156"/>
            <a:ext cx="807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Grad-CAM heatmap representation indicating features importance </a:t>
            </a:r>
          </a:p>
          <a:p>
            <a:r>
              <a:rPr lang="en-US" sz="2000" dirty="0"/>
              <a:t>Region in the input image.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C7E68-45E5-C82E-2F20-022E19F38068}"/>
              </a:ext>
            </a:extLst>
          </p:cNvPr>
          <p:cNvSpPr/>
          <p:nvPr/>
        </p:nvSpPr>
        <p:spPr>
          <a:xfrm>
            <a:off x="217714" y="1066800"/>
            <a:ext cx="8697686" cy="528955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50485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35B6-700C-9E4D-07A6-ACD749EE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43A6-8C7F-DE07-0303-FAC7556C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Research paper (Acceptance proof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15375-284A-95FA-ABC6-3A46B099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E1F29-FFC0-9C01-1093-3060EC0CD2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72AF32AE-9697-3758-A08F-2D2C3B57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320D4-C167-59DC-85EF-C80E39CEF9A2}"/>
              </a:ext>
            </a:extLst>
          </p:cNvPr>
          <p:cNvSpPr txBox="1"/>
          <p:nvPr/>
        </p:nvSpPr>
        <p:spPr>
          <a:xfrm>
            <a:off x="685800" y="5225156"/>
            <a:ext cx="807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Paper Status Applied.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FAC124C-9C8D-E397-8A08-A118D3DCA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5756"/>
            <a:ext cx="8229600" cy="267004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2C6F66-B324-740E-0CB8-FA07055C0C01}"/>
              </a:ext>
            </a:extLst>
          </p:cNvPr>
          <p:cNvSpPr/>
          <p:nvPr/>
        </p:nvSpPr>
        <p:spPr>
          <a:xfrm>
            <a:off x="217714" y="1219200"/>
            <a:ext cx="8545286" cy="4953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57682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17004-D449-8B97-D48C-59B8119E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14B4-F314-716F-B472-86002B96ABD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Advantages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CCD5CA-A225-F8E2-2CCB-E3D9004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High accuracy in detecting marine plastic waste</a:t>
            </a:r>
          </a:p>
          <a:p>
            <a:r>
              <a:rPr lang="en-US" sz="2400" dirty="0"/>
              <a:t>Reduces manual effort and human error</a:t>
            </a:r>
          </a:p>
          <a:p>
            <a:r>
              <a:rPr lang="en-US" sz="2400" dirty="0"/>
              <a:t>Provides explainable results using Grad-CAM</a:t>
            </a:r>
          </a:p>
          <a:p>
            <a:r>
              <a:rPr lang="en-US" sz="2400" dirty="0"/>
              <a:t>Works under different environmental conditions</a:t>
            </a:r>
          </a:p>
          <a:p>
            <a:r>
              <a:rPr lang="en-US" sz="2400" dirty="0"/>
              <a:t>Scalable for large-scale ocean monitoring</a:t>
            </a:r>
          </a:p>
          <a:p>
            <a:r>
              <a:rPr lang="en-US" sz="2400" dirty="0"/>
              <a:t>Supports real time or near real-time detection</a:t>
            </a:r>
          </a:p>
          <a:p>
            <a:r>
              <a:rPr lang="en-US" sz="2400" dirty="0"/>
              <a:t>User-friendly interface for easy operation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909AEA31-6E48-12A9-EAE7-37E35420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42EA4-E120-B8A2-2B01-AA3CDB60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F93DF4-2CC4-9322-1BF6-DD56B6F3F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DB2BF0-8C04-F1EC-3BCE-165EB7C34EC9}"/>
              </a:ext>
            </a:extLst>
          </p:cNvPr>
          <p:cNvSpPr/>
          <p:nvPr/>
        </p:nvSpPr>
        <p:spPr>
          <a:xfrm>
            <a:off x="457200" y="1600200"/>
            <a:ext cx="8458200" cy="4756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13860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8E23-DC9D-E407-F74C-3E744473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Future Scope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D8CA2-C4EA-223F-1613-972AB079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0E727-A54E-97A9-E002-B6B63B5E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1BEF2-95F5-417E-9097-980329164CCD}" type="slidenum">
              <a:rPr lang="en-US" altLang="en-US" smtClean="0"/>
              <a:pPr/>
              <a:t>17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2F82F9-419D-476D-9535-755DBFD1B7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9C8D3C-D12E-6028-37F0-6B4A7777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Real Time detection using drones and underwater robots</a:t>
            </a:r>
          </a:p>
          <a:p>
            <a:pPr algn="just"/>
            <a:r>
              <a:rPr lang="en-US" sz="2400" dirty="0"/>
              <a:t>Integration with </a:t>
            </a:r>
            <a:r>
              <a:rPr lang="en-US" sz="2400" b="1" dirty="0"/>
              <a:t>IoT sensors</a:t>
            </a:r>
            <a:r>
              <a:rPr lang="en-US" sz="2400" dirty="0"/>
              <a:t> for continuous monitoring </a:t>
            </a:r>
          </a:p>
          <a:p>
            <a:pPr algn="just"/>
            <a:r>
              <a:rPr lang="en-US" sz="2400" dirty="0"/>
              <a:t>Development of </a:t>
            </a:r>
            <a:r>
              <a:rPr lang="en-US" sz="2400" b="1" dirty="0"/>
              <a:t>mobile/web application</a:t>
            </a:r>
            <a:r>
              <a:rPr lang="en-US" sz="2400" dirty="0"/>
              <a:t> for easy access </a:t>
            </a:r>
          </a:p>
          <a:p>
            <a:pPr algn="just"/>
            <a:r>
              <a:rPr lang="en-US" sz="2400" dirty="0"/>
              <a:t>Use of advanced models like </a:t>
            </a:r>
            <a:r>
              <a:rPr lang="en-US" sz="2400" b="1" dirty="0"/>
              <a:t>YOLO </a:t>
            </a:r>
            <a:r>
              <a:rPr lang="en-US" sz="2400" dirty="0"/>
              <a:t> for better accuracy </a:t>
            </a:r>
          </a:p>
          <a:p>
            <a:pPr algn="just"/>
            <a:r>
              <a:rPr lang="en-US" sz="2400" dirty="0"/>
              <a:t>Expansion to detect </a:t>
            </a:r>
            <a:r>
              <a:rPr lang="en-US" sz="2400" b="1" dirty="0"/>
              <a:t>other marine pollutants (oil spills, chemicals)</a:t>
            </a: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Deployment in </a:t>
            </a:r>
            <a:r>
              <a:rPr lang="en-US" sz="2400" b="1" dirty="0"/>
              <a:t>large-scale ocean monitoring systems</a:t>
            </a: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Integration with satellite imagery for large-scale monitoring</a:t>
            </a:r>
          </a:p>
          <a:p>
            <a:pPr algn="just"/>
            <a:r>
              <a:rPr lang="en-US" sz="2400" dirty="0"/>
              <a:t>Use of real time alert systems to notify authorities about pollution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43CDE9-2BD8-0C3D-F313-26A3482A0F83}"/>
              </a:ext>
            </a:extLst>
          </p:cNvPr>
          <p:cNvSpPr/>
          <p:nvPr/>
        </p:nvSpPr>
        <p:spPr>
          <a:xfrm>
            <a:off x="457200" y="1295400"/>
            <a:ext cx="8382000" cy="48307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BCB93-6F8C-B4C6-C6DC-2E98B06D7CD2}"/>
              </a:ext>
            </a:extLst>
          </p:cNvPr>
          <p:cNvSpPr/>
          <p:nvPr/>
        </p:nvSpPr>
        <p:spPr>
          <a:xfrm>
            <a:off x="304800" y="457200"/>
            <a:ext cx="7501890" cy="731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181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18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The AquaVision-X framework successfully detects marine plastic waste using a CNN-based deep learning model.</a:t>
            </a:r>
          </a:p>
          <a:p>
            <a:pPr algn="just"/>
            <a:r>
              <a:rPr lang="en-US" sz="2400" dirty="0"/>
              <a:t>The system improves detection reliability by combining visual drone imagery with contextual environmental data.</a:t>
            </a:r>
          </a:p>
          <a:p>
            <a:pPr algn="just"/>
            <a:r>
              <a:rPr lang="en-US" sz="2400" dirty="0"/>
              <a:t>Integration of Explainable AI (XAI) techniques provides transparent and interpretable results through visual heatmaps.</a:t>
            </a:r>
          </a:p>
          <a:p>
            <a:pPr algn="just"/>
            <a:r>
              <a:rPr lang="en-US" sz="2400" dirty="0"/>
              <a:t>The developed interface enables easy image upload, automated detection, and visualization of results.</a:t>
            </a:r>
          </a:p>
          <a:p>
            <a:pPr algn="just"/>
            <a:r>
              <a:rPr lang="en-US" sz="2400" dirty="0"/>
              <a:t>Overall, the system offers a scalable and effective solution for marine pollution monitoring and conservation efforts.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58792E-13BA-C2A6-1B39-73C460C73F7A}"/>
              </a:ext>
            </a:extLst>
          </p:cNvPr>
          <p:cNvSpPr/>
          <p:nvPr/>
        </p:nvSpPr>
        <p:spPr>
          <a:xfrm>
            <a:off x="228600" y="1066800"/>
            <a:ext cx="8686800" cy="52895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19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1334</Words>
  <Application>Microsoft Office PowerPoint</Application>
  <PresentationFormat>On-screen Show (4:3)</PresentationFormat>
  <Paragraphs>216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Arial,Sans-Serif</vt:lpstr>
      <vt:lpstr>Calibri</vt:lpstr>
      <vt:lpstr>Wingdings</vt:lpstr>
      <vt:lpstr>Office Theme</vt:lpstr>
      <vt:lpstr>    DEPARTMENT OF COMPUTER SCIENCE &amp; ENGINEERING  </vt:lpstr>
      <vt:lpstr>Mini Project Review-2 Outlines</vt:lpstr>
      <vt:lpstr>Main idea of the Project</vt:lpstr>
      <vt:lpstr>Existing System Vs Proposed </vt:lpstr>
      <vt:lpstr>Existing System Vs Proposed </vt:lpstr>
      <vt:lpstr>Proposed Project Objectives</vt:lpstr>
      <vt:lpstr>Proposed Project Objectives</vt:lpstr>
      <vt:lpstr>Proposed Project Outcomes</vt:lpstr>
      <vt:lpstr>Software and Hardware Requirements</vt:lpstr>
      <vt:lpstr>Process Model</vt:lpstr>
      <vt:lpstr>Architectural Diagram</vt:lpstr>
      <vt:lpstr>PROPOSED METHOD AND ALGORITHMS</vt:lpstr>
      <vt:lpstr>Results</vt:lpstr>
      <vt:lpstr>Results</vt:lpstr>
      <vt:lpstr>Research paper (Acceptance proof</vt:lpstr>
      <vt:lpstr>Advantages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Mohd Sohail</cp:lastModifiedBy>
  <cp:revision>546</cp:revision>
  <dcterms:created xsi:type="dcterms:W3CDTF">2006-08-16T00:00:00Z</dcterms:created>
  <dcterms:modified xsi:type="dcterms:W3CDTF">2026-04-02T03:20:28Z</dcterms:modified>
</cp:coreProperties>
</file>